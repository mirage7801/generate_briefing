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华文新魏"/>
                <a:ea typeface="华文新魏"/>
                <a:cs typeface="华文新魏"/>
              </a:rPr>
              <a:t>AI+HW 2035: A Vision for AI and Hardware…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华文新魏"/>
                <a:ea typeface="华文新魏"/>
                <a:cs typeface="华文新魏"/>
              </a:rPr>
              <a:t>AI与硬件协同设计十年路线图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1800" b="0">
                <a:solidFill>
                  <a:srgbClr val="FFFFFF"/>
                </a:solidFill>
                <a:latin typeface="华文新魏"/>
                <a:ea typeface="华文新魏"/>
                <a:cs typeface="华文新魏"/>
              </a:rPr>
              <a:t>AI + Hardware Co-design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B1F3A"/>
                </a:solidFill>
                <a:latin typeface="华文新魏"/>
                <a:ea typeface="华文新魏"/>
                <a:cs typeface="华文新魏"/>
              </a:rPr>
              <a:t>三大抽象层级：Hardware × Algorithm ×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34290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371600"/>
            <a:ext cx="3026664" cy="50292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B1F3A"/>
                </a:solidFill>
                <a:latin typeface="华文新魏"/>
                <a:ea typeface="华文新魏"/>
                <a:cs typeface="华文新魏"/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971800" cy="406908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核心作用：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定义AI系统的性能、能耗和可扩展性边界，通过3D集成、存内计算、光子互连…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关键特征：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内存中心架构减少数据移动能耗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3D集成与异构封装提升带宽和能效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例子：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3D堆叠计算与存储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143000"/>
            <a:ext cx="34290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1371600"/>
            <a:ext cx="3026664" cy="50292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B1F3A"/>
                </a:solidFill>
                <a:latin typeface="华文新魏"/>
                <a:ea typeface="华文新魏"/>
                <a:cs typeface="华文新魏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8576" y="2011680"/>
            <a:ext cx="2971800" cy="406908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核心作用：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将硬件约束和机遇转化为高效方法，实现硬件感知训练和AI在环设计自动化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关键特征：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低复杂度模型降低计算需求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硬件感知训练（低精度、稀疏性）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例子：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硬件感知低精度训练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7031" y="1143000"/>
            <a:ext cx="34290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371600"/>
            <a:ext cx="3026664" cy="50292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B1F3A"/>
                </a:solidFill>
                <a:latin typeface="华文新魏"/>
                <a:ea typeface="华文新魏"/>
                <a:cs typeface="华文新魏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011680"/>
            <a:ext cx="2971800" cy="406908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核心作用：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驱动算法和硬件的新要求，强调领域专用AI和混合边缘-云架构…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关键特征：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物理AI对能效和实时性要求高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领域专用AI嵌入物理定律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例子：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机器人自主导航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66928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B1F3A"/>
                </a:solidFill>
                <a:latin typeface="华文新魏"/>
                <a:ea typeface="华文新魏"/>
                <a:cs typeface="华文新魏"/>
              </a:rPr>
              <a:t>技术演进时间轴：近期到远期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88720" y="2606040"/>
            <a:ext cx="9784080" cy="0"/>
          </a:xfrm>
          <a:prstGeom prst="line">
            <a:avLst/>
          </a:prstGeom>
          <a:ln w="381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063240" y="2377440"/>
            <a:ext cx="457200" cy="457200"/>
          </a:xfrm>
          <a:prstGeom prst="ellipse">
            <a:avLst/>
          </a:prstGeom>
          <a:solidFill>
            <a:srgbClr val="1F77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41080" y="2377440"/>
            <a:ext cx="457200" cy="457200"/>
          </a:xfrm>
          <a:prstGeom prst="ellipse">
            <a:avLst/>
          </a:prstGeom>
          <a:solidFill>
            <a:srgbClr val="1F77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6040" y="1874519"/>
            <a:ext cx="1371600" cy="41148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B1F3A"/>
                </a:solidFill>
                <a:latin typeface="华文新魏"/>
                <a:ea typeface="华文新魏"/>
                <a:cs typeface="华文新魏"/>
              </a:rPr>
              <a:t>近期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74519"/>
            <a:ext cx="1371600" cy="411480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B1F3A"/>
                </a:solidFill>
                <a:latin typeface="华文新魏"/>
                <a:ea typeface="华文新魏"/>
                <a:cs typeface="华文新魏"/>
              </a:rPr>
              <a:t>远期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5120640" cy="2926080"/>
          </a:xfrm>
          <a:prstGeom prst="roundRect">
            <a:avLst/>
          </a:prstGeom>
          <a:solidFill>
            <a:srgbClr val="EAF4FF"/>
          </a:solidFill>
          <a:ln>
            <a:solidFill>
              <a:srgbClr val="B8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191256"/>
            <a:ext cx="4572000" cy="475488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B1F3A"/>
                </a:solidFill>
                <a:latin typeface="华文新魏"/>
                <a:ea typeface="华文新魏"/>
                <a:cs typeface="华文新魏"/>
              </a:rPr>
              <a:t>近期  2-5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813048"/>
            <a:ext cx="4498848" cy="1810512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趋势：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100倍效率提升，算法10倍、硅利用20倍、系统级5…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3D集成和存内计算进入主流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意义：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通过算法优化和硬件进步实现100倍效率提升，缓解能源压力…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971800"/>
            <a:ext cx="5120640" cy="2926080"/>
          </a:xfrm>
          <a:prstGeom prst="roundRect">
            <a:avLst/>
          </a:prstGeom>
          <a:solidFill>
            <a:srgbClr val="EAF4FF"/>
          </a:solidFill>
          <a:ln>
            <a:solidFill>
              <a:srgbClr val="B8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3191256"/>
            <a:ext cx="4572000" cy="475488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0B1F3A"/>
                </a:solidFill>
                <a:latin typeface="华文新魏"/>
                <a:ea typeface="华文新魏"/>
                <a:cs typeface="华文新魏"/>
              </a:rPr>
              <a:t>远期  6-10 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3813048"/>
            <a:ext cx="4498848" cy="1810512"/>
          </a:xfrm>
          <a:prstGeom prst="rect">
            <a:avLst/>
          </a:prstGeom>
          <a:noFill/>
        </p:spPr>
        <p:txBody>
          <a:bodyPr wrap="square" lIns="73152" rIns="73152"/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趋势：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1000倍效率提升，跨层协同设计成熟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• 光子互连和量子-经典混合系统实用化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意义：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B2B2B"/>
                </a:solidFill>
                <a:latin typeface="华文新魏"/>
                <a:ea typeface="华文新魏"/>
                <a:cs typeface="华文新魏"/>
              </a:rPr>
              <a:t>实现可持续AI基础设施，支持物理AI和科学发现，民主化硬件访问…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